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0058400" cy="15544800"/>
  <p:notesSz cx="10058400" cy="155448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4818888"/>
            <a:ext cx="8549640" cy="3264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8705088"/>
            <a:ext cx="7040880" cy="388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3575304"/>
            <a:ext cx="4375404" cy="102595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3575304"/>
            <a:ext cx="4375404" cy="102595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621792"/>
            <a:ext cx="9052560" cy="24871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3575304"/>
            <a:ext cx="9052560" cy="102595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0200" y="15064905"/>
            <a:ext cx="2084705" cy="12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14456664"/>
            <a:ext cx="2313432" cy="77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638555" y="15058826"/>
            <a:ext cx="128270" cy="1409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mailto:email@domain.com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mc.ncbi.nlm.nih.gov/articles/PMC12189880/" TargetMode="External"/><Relationship Id="rId3" Type="http://schemas.openxmlformats.org/officeDocument/2006/relationships/hyperlink" Target="https://pmc.ncbi.nlm.nih.gov/articles/PMC11091685/" TargetMode="External"/><Relationship Id="rId4" Type="http://schemas.openxmlformats.org/officeDocument/2006/relationships/hyperlink" Target="https://www.medsci.org/v22p2792.htm" TargetMode="External"/><Relationship Id="rId5" Type="http://schemas.openxmlformats.org/officeDocument/2006/relationships/hyperlink" Target="https://pmc.ncbi.nlm.nih.gov/articles/PMC10804900/" TargetMode="External"/><Relationship Id="rId6" Type="http://schemas.openxmlformats.org/officeDocument/2006/relationships/hyperlink" Target="https://www.frontiersin.org/journals/medicine/articles/10.3389/fmed.2025.1625293/full" TargetMode="External"/><Relationship Id="rId7" Type="http://schemas.openxmlformats.org/officeDocument/2006/relationships/hyperlink" Target="https://pmc.ncbi.nlm.nih.gov/articles/PMC8285156/" TargetMode="External"/><Relationship Id="rId8" Type="http://schemas.openxmlformats.org/officeDocument/2006/relationships/hyperlink" Target="https://www.nature.com/articles/s41746-025-02004-3" TargetMode="External"/><Relationship Id="rId9" Type="http://schemas.openxmlformats.org/officeDocument/2006/relationships/hyperlink" Target="https://www.nature.com/articles/s41467-025-58551-6" TargetMode="External"/><Relationship Id="rId10" Type="http://schemas.openxmlformats.org/officeDocument/2006/relationships/hyperlink" Target="https://www.jmir.org/2025/1/e71618" TargetMode="External"/><Relationship Id="rId11" Type="http://schemas.openxmlformats.org/officeDocument/2006/relationships/hyperlink" Target="https://www.tandfonline.com/doi/full/10.1080/0142159X.2024.2314198" TargetMode="External"/><Relationship Id="rId12" Type="http://schemas.openxmlformats.org/officeDocument/2006/relationships/hyperlink" Target="https://jamanetwork.com/journals/jama/fullarticle/2825147" TargetMode="External"/><Relationship Id="rId13" Type="http://schemas.openxmlformats.org/officeDocument/2006/relationships/hyperlink" Target="https://www.weforum.org/stories/2025/08/ai-transforming-global-health/" TargetMode="External"/><Relationship Id="rId14" Type="http://schemas.openxmlformats.org/officeDocument/2006/relationships/hyperlink" Target="https://conferences.sigappfr.org/aiccsa2025/healthllm-leveraging-large-language-models-and-ai-for-intelligent-healthcare-systems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mednexus.org/doi/10.1016/j.imed.2025.03.002" TargetMode="External"/><Relationship Id="rId3" Type="http://schemas.openxmlformats.org/officeDocument/2006/relationships/hyperlink" Target="https://pmc.ncbi.nlm.nih.gov/articles/PMC12047852/" TargetMode="External"/><Relationship Id="rId4" Type="http://schemas.openxmlformats.org/officeDocument/2006/relationships/hyperlink" Target="https://pmc.ncbi.nlm.nih.gov/articles/PMC11263899/" TargetMode="External"/><Relationship Id="rId5" Type="http://schemas.openxmlformats.org/officeDocument/2006/relationships/hyperlink" Target="https://www.nature.com/articles/s41746-022-00742-2" TargetMode="External"/><Relationship Id="rId6" Type="http://schemas.openxmlformats.org/officeDocument/2006/relationships/hyperlink" Target="https://pmc.ncbi.nlm.nih.gov/articles/PMC10804900/" TargetMode="External"/><Relationship Id="rId7" Type="http://schemas.openxmlformats.org/officeDocument/2006/relationships/hyperlink" Target="https://jamanetwork.com/journals/jamanetworkopen/fullarticle/2825395" TargetMode="External"/><Relationship Id="rId8" Type="http://schemas.openxmlformats.org/officeDocument/2006/relationships/hyperlink" Target="https://www.nature.com/articles/s41598-024-58760-x" TargetMode="External"/><Relationship Id="rId9" Type="http://schemas.openxmlformats.org/officeDocument/2006/relationships/hyperlink" Target="https://pubmed.ncbi.nlm.nih.gov/36805219/" TargetMode="External"/><Relationship Id="rId10" Type="http://schemas.openxmlformats.org/officeDocument/2006/relationships/hyperlink" Target="https://pmc.ncbi.nlm.nih.gov/articles/PMC8285156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400" y="5333999"/>
            <a:ext cx="8229600" cy="581025"/>
          </a:xfrm>
          <a:custGeom>
            <a:avLst/>
            <a:gdLst/>
            <a:ahLst/>
            <a:cxnLst/>
            <a:rect l="l" t="t" r="r" b="b"/>
            <a:pathLst>
              <a:path w="8229600" h="581025">
                <a:moveTo>
                  <a:pt x="8140603" y="581024"/>
                </a:moveTo>
                <a:lnTo>
                  <a:pt x="88995" y="581024"/>
                </a:lnTo>
                <a:lnTo>
                  <a:pt x="82801" y="580414"/>
                </a:lnTo>
                <a:lnTo>
                  <a:pt x="37131" y="561497"/>
                </a:lnTo>
                <a:lnTo>
                  <a:pt x="9643" y="528003"/>
                </a:lnTo>
                <a:lnTo>
                  <a:pt x="0" y="492028"/>
                </a:lnTo>
                <a:lnTo>
                  <a:pt x="0" y="485774"/>
                </a:lnTo>
                <a:lnTo>
                  <a:pt x="0" y="88995"/>
                </a:lnTo>
                <a:lnTo>
                  <a:pt x="12577" y="47531"/>
                </a:lnTo>
                <a:lnTo>
                  <a:pt x="47532" y="12577"/>
                </a:lnTo>
                <a:lnTo>
                  <a:pt x="88995" y="0"/>
                </a:lnTo>
                <a:lnTo>
                  <a:pt x="8140603" y="0"/>
                </a:lnTo>
                <a:lnTo>
                  <a:pt x="8182066" y="12577"/>
                </a:lnTo>
                <a:lnTo>
                  <a:pt x="8217019" y="47531"/>
                </a:lnTo>
                <a:lnTo>
                  <a:pt x="8229598" y="88995"/>
                </a:lnTo>
                <a:lnTo>
                  <a:pt x="8229598" y="492028"/>
                </a:lnTo>
                <a:lnTo>
                  <a:pt x="8217019" y="533492"/>
                </a:lnTo>
                <a:lnTo>
                  <a:pt x="8182065" y="568446"/>
                </a:lnTo>
                <a:lnTo>
                  <a:pt x="8146796" y="580414"/>
                </a:lnTo>
                <a:lnTo>
                  <a:pt x="8140603" y="581024"/>
                </a:lnTo>
                <a:close/>
              </a:path>
            </a:pathLst>
          </a:custGeom>
          <a:solidFill>
            <a:srgbClr val="F0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14400" y="6105525"/>
            <a:ext cx="8229600" cy="581025"/>
          </a:xfrm>
          <a:custGeom>
            <a:avLst/>
            <a:gdLst/>
            <a:ahLst/>
            <a:cxnLst/>
            <a:rect l="l" t="t" r="r" b="b"/>
            <a:pathLst>
              <a:path w="8229600" h="581025">
                <a:moveTo>
                  <a:pt x="8140603" y="581023"/>
                </a:moveTo>
                <a:lnTo>
                  <a:pt x="88995" y="581023"/>
                </a:lnTo>
                <a:lnTo>
                  <a:pt x="82801" y="580413"/>
                </a:lnTo>
                <a:lnTo>
                  <a:pt x="37131" y="561496"/>
                </a:lnTo>
                <a:lnTo>
                  <a:pt x="9643" y="528002"/>
                </a:lnTo>
                <a:lnTo>
                  <a:pt x="0" y="492028"/>
                </a:lnTo>
                <a:lnTo>
                  <a:pt x="0" y="485774"/>
                </a:lnTo>
                <a:lnTo>
                  <a:pt x="0" y="88995"/>
                </a:lnTo>
                <a:lnTo>
                  <a:pt x="12577" y="47530"/>
                </a:lnTo>
                <a:lnTo>
                  <a:pt x="47532" y="12576"/>
                </a:lnTo>
                <a:lnTo>
                  <a:pt x="88995" y="0"/>
                </a:lnTo>
                <a:lnTo>
                  <a:pt x="8140603" y="0"/>
                </a:lnTo>
                <a:lnTo>
                  <a:pt x="8182066" y="12576"/>
                </a:lnTo>
                <a:lnTo>
                  <a:pt x="8217019" y="47530"/>
                </a:lnTo>
                <a:lnTo>
                  <a:pt x="8229598" y="88995"/>
                </a:lnTo>
                <a:lnTo>
                  <a:pt x="8229598" y="492028"/>
                </a:lnTo>
                <a:lnTo>
                  <a:pt x="8217019" y="533491"/>
                </a:lnTo>
                <a:lnTo>
                  <a:pt x="8182065" y="568445"/>
                </a:lnTo>
                <a:lnTo>
                  <a:pt x="8146796" y="580413"/>
                </a:lnTo>
                <a:lnTo>
                  <a:pt x="8140603" y="581023"/>
                </a:lnTo>
                <a:close/>
              </a:path>
            </a:pathLst>
          </a:custGeom>
          <a:solidFill>
            <a:srgbClr val="F0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14400" y="8067674"/>
            <a:ext cx="8229600" cy="581025"/>
          </a:xfrm>
          <a:custGeom>
            <a:avLst/>
            <a:gdLst/>
            <a:ahLst/>
            <a:cxnLst/>
            <a:rect l="l" t="t" r="r" b="b"/>
            <a:pathLst>
              <a:path w="8229600" h="581025">
                <a:moveTo>
                  <a:pt x="8140603" y="581024"/>
                </a:moveTo>
                <a:lnTo>
                  <a:pt x="88995" y="581024"/>
                </a:lnTo>
                <a:lnTo>
                  <a:pt x="82801" y="580414"/>
                </a:lnTo>
                <a:lnTo>
                  <a:pt x="37131" y="561497"/>
                </a:lnTo>
                <a:lnTo>
                  <a:pt x="9643" y="528002"/>
                </a:lnTo>
                <a:lnTo>
                  <a:pt x="0" y="492028"/>
                </a:lnTo>
                <a:lnTo>
                  <a:pt x="0" y="485774"/>
                </a:lnTo>
                <a:lnTo>
                  <a:pt x="0" y="88995"/>
                </a:lnTo>
                <a:lnTo>
                  <a:pt x="12577" y="47530"/>
                </a:lnTo>
                <a:lnTo>
                  <a:pt x="47532" y="12577"/>
                </a:lnTo>
                <a:lnTo>
                  <a:pt x="88995" y="0"/>
                </a:lnTo>
                <a:lnTo>
                  <a:pt x="8140603" y="0"/>
                </a:lnTo>
                <a:lnTo>
                  <a:pt x="8182066" y="12577"/>
                </a:lnTo>
                <a:lnTo>
                  <a:pt x="8217019" y="47530"/>
                </a:lnTo>
                <a:lnTo>
                  <a:pt x="8229598" y="88995"/>
                </a:lnTo>
                <a:lnTo>
                  <a:pt x="8229598" y="492028"/>
                </a:lnTo>
                <a:lnTo>
                  <a:pt x="8217019" y="533491"/>
                </a:lnTo>
                <a:lnTo>
                  <a:pt x="8182065" y="568446"/>
                </a:lnTo>
                <a:lnTo>
                  <a:pt x="8146796" y="580413"/>
                </a:lnTo>
                <a:lnTo>
                  <a:pt x="8140603" y="581024"/>
                </a:lnTo>
                <a:close/>
              </a:path>
            </a:pathLst>
          </a:custGeom>
          <a:solidFill>
            <a:srgbClr val="F0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14400" y="9258299"/>
            <a:ext cx="8229600" cy="581025"/>
          </a:xfrm>
          <a:custGeom>
            <a:avLst/>
            <a:gdLst/>
            <a:ahLst/>
            <a:cxnLst/>
            <a:rect l="l" t="t" r="r" b="b"/>
            <a:pathLst>
              <a:path w="8229600" h="581025">
                <a:moveTo>
                  <a:pt x="8140603" y="581024"/>
                </a:moveTo>
                <a:lnTo>
                  <a:pt x="88995" y="581024"/>
                </a:lnTo>
                <a:lnTo>
                  <a:pt x="82801" y="580413"/>
                </a:lnTo>
                <a:lnTo>
                  <a:pt x="37131" y="561497"/>
                </a:lnTo>
                <a:lnTo>
                  <a:pt x="9643" y="528002"/>
                </a:lnTo>
                <a:lnTo>
                  <a:pt x="0" y="492029"/>
                </a:lnTo>
                <a:lnTo>
                  <a:pt x="0" y="485774"/>
                </a:lnTo>
                <a:lnTo>
                  <a:pt x="0" y="88995"/>
                </a:lnTo>
                <a:lnTo>
                  <a:pt x="12577" y="47531"/>
                </a:lnTo>
                <a:lnTo>
                  <a:pt x="47532" y="12577"/>
                </a:lnTo>
                <a:lnTo>
                  <a:pt x="88995" y="0"/>
                </a:lnTo>
                <a:lnTo>
                  <a:pt x="8140603" y="0"/>
                </a:lnTo>
                <a:lnTo>
                  <a:pt x="8182066" y="12577"/>
                </a:lnTo>
                <a:lnTo>
                  <a:pt x="8217019" y="47531"/>
                </a:lnTo>
                <a:lnTo>
                  <a:pt x="8229598" y="88995"/>
                </a:lnTo>
                <a:lnTo>
                  <a:pt x="8229598" y="492029"/>
                </a:lnTo>
                <a:lnTo>
                  <a:pt x="8217019" y="533492"/>
                </a:lnTo>
                <a:lnTo>
                  <a:pt x="8182065" y="568446"/>
                </a:lnTo>
                <a:lnTo>
                  <a:pt x="8146796" y="580414"/>
                </a:lnTo>
                <a:lnTo>
                  <a:pt x="8140603" y="581024"/>
                </a:lnTo>
                <a:close/>
              </a:path>
            </a:pathLst>
          </a:custGeom>
          <a:solidFill>
            <a:srgbClr val="F0EFE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914400" y="10029824"/>
          <a:ext cx="6800850" cy="826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4700"/>
                <a:gridCol w="3400425"/>
              </a:tblGrid>
              <a:tr h="27559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Words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9525">
                      <a:solidFill>
                        <a:srgbClr val="37342E"/>
                      </a:solidFill>
                      <a:prstDash val="solid"/>
                    </a:lnL>
                    <a:lnR w="9525">
                      <a:solidFill>
                        <a:srgbClr val="37342E"/>
                      </a:solidFill>
                      <a:prstDash val="solid"/>
                    </a:lnR>
                    <a:lnT w="9525">
                      <a:solidFill>
                        <a:srgbClr val="37342E"/>
                      </a:solidFill>
                      <a:prstDash val="solid"/>
                    </a:lnT>
                    <a:lnB w="9525">
                      <a:solidFill>
                        <a:srgbClr val="3734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771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latin typeface="Times New Roman"/>
                          <a:cs typeface="Times New Roman"/>
                        </a:rPr>
                        <a:t>771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9525">
                      <a:solidFill>
                        <a:srgbClr val="37342E"/>
                      </a:solidFill>
                      <a:prstDash val="solid"/>
                    </a:lnL>
                    <a:lnR w="9525">
                      <a:solidFill>
                        <a:srgbClr val="37342E"/>
                      </a:solidFill>
                      <a:prstDash val="solid"/>
                    </a:lnR>
                    <a:lnT w="9525">
                      <a:solidFill>
                        <a:srgbClr val="37342E"/>
                      </a:solidFill>
                      <a:prstDash val="solid"/>
                    </a:lnT>
                    <a:lnB w="9525">
                      <a:solidFill>
                        <a:srgbClr val="37342E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Characters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9525">
                      <a:solidFill>
                        <a:srgbClr val="37342E"/>
                      </a:solidFill>
                      <a:prstDash val="solid"/>
                    </a:lnL>
                    <a:lnR w="9525">
                      <a:solidFill>
                        <a:srgbClr val="37342E"/>
                      </a:solidFill>
                      <a:prstDash val="solid"/>
                    </a:lnR>
                    <a:lnT w="9525">
                      <a:solidFill>
                        <a:srgbClr val="37342E"/>
                      </a:solidFill>
                      <a:prstDash val="solid"/>
                    </a:lnT>
                    <a:lnB w="9525">
                      <a:solidFill>
                        <a:srgbClr val="3734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6350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6350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9525">
                      <a:solidFill>
                        <a:srgbClr val="37342E"/>
                      </a:solidFill>
                      <a:prstDash val="solid"/>
                    </a:lnL>
                    <a:lnR w="9525">
                      <a:solidFill>
                        <a:srgbClr val="37342E"/>
                      </a:solidFill>
                      <a:prstDash val="solid"/>
                    </a:lnR>
                    <a:lnT w="9525">
                      <a:solidFill>
                        <a:srgbClr val="37342E"/>
                      </a:solidFill>
                      <a:prstDash val="solid"/>
                    </a:lnT>
                    <a:lnB w="9525">
                      <a:solidFill>
                        <a:srgbClr val="37342E"/>
                      </a:solidFill>
                      <a:prstDash val="solid"/>
                    </a:lnB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Characters excluding </a:t>
                      </a:r>
                      <a:r>
                        <a:rPr dirty="0" sz="1050" spc="-10">
                          <a:latin typeface="Times New Roman"/>
                          <a:cs typeface="Times New Roman"/>
                        </a:rPr>
                        <a:t>spaces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9525">
                      <a:solidFill>
                        <a:srgbClr val="37342E"/>
                      </a:solidFill>
                      <a:prstDash val="solid"/>
                    </a:lnL>
                    <a:lnR w="9525">
                      <a:solidFill>
                        <a:srgbClr val="37342E"/>
                      </a:solidFill>
                      <a:prstDash val="solid"/>
                    </a:lnR>
                    <a:lnT w="9525">
                      <a:solidFill>
                        <a:srgbClr val="37342E"/>
                      </a:solidFill>
                      <a:prstDash val="solid"/>
                    </a:lnT>
                    <a:lnB w="9525">
                      <a:solidFill>
                        <a:srgbClr val="3734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50">
                          <a:latin typeface="Times New Roman"/>
                          <a:cs typeface="Times New Roman"/>
                        </a:rPr>
                        <a:t>5624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>
                          <a:latin typeface="Times New Roman"/>
                          <a:cs typeface="Times New Roman"/>
                        </a:rPr>
                        <a:t>5624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>
                    <a:lnL w="9525">
                      <a:solidFill>
                        <a:srgbClr val="37342E"/>
                      </a:solidFill>
                      <a:prstDash val="solid"/>
                    </a:lnL>
                    <a:lnR w="9525">
                      <a:solidFill>
                        <a:srgbClr val="37342E"/>
                      </a:solidFill>
                      <a:prstDash val="solid"/>
                    </a:lnR>
                    <a:lnT w="9525">
                      <a:solidFill>
                        <a:srgbClr val="37342E"/>
                      </a:solidFill>
                      <a:prstDash val="solid"/>
                    </a:lnT>
                    <a:lnB w="9525">
                      <a:solidFill>
                        <a:srgbClr val="37342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914400" y="10944224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14400" y="12525374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8229599" cy="41147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5486400"/>
            <a:ext cx="276224" cy="2762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6257925"/>
            <a:ext cx="276224" cy="276224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1019174" y="69722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019174" y="7515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6800" y="8220075"/>
            <a:ext cx="276224" cy="27622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6800" y="9410700"/>
            <a:ext cx="276224" cy="27622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901700" y="6254750"/>
            <a:ext cx="7957820" cy="33610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308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Authors: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>
              <a:latin typeface="Times New Roman"/>
              <a:cs typeface="Times New Roman"/>
            </a:endParaRPr>
          </a:p>
          <a:p>
            <a:pPr marL="286385" marR="1116965">
              <a:lnSpc>
                <a:spcPct val="125000"/>
              </a:lnSpc>
            </a:pPr>
            <a:r>
              <a:rPr dirty="0" sz="1200">
                <a:latin typeface="Times New Roman"/>
                <a:cs typeface="Times New Roman"/>
              </a:rPr>
              <a:t>Debargha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Brahma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10">
                <a:latin typeface="Times New Roman"/>
                <a:cs typeface="Times New Roman"/>
              </a:rPr>
              <a:t> B.Tech-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CSE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(AI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&amp;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ML),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Section-</a:t>
            </a:r>
            <a:r>
              <a:rPr dirty="0" sz="1200">
                <a:latin typeface="Times New Roman"/>
                <a:cs typeface="Times New Roman"/>
              </a:rPr>
              <a:t>H,</a:t>
            </a:r>
            <a:r>
              <a:rPr dirty="0" sz="1200" spc="-10">
                <a:latin typeface="Times New Roman"/>
                <a:cs typeface="Times New Roman"/>
              </a:rPr>
              <a:t> UG/SOET/30/24/293,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Adamas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University,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Email: [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debargha1.brahma@stu.adamasuniversity.ac.in</a:t>
            </a:r>
            <a:r>
              <a:rPr dirty="0" sz="1200" spc="-1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286385" marR="1367790">
              <a:lnSpc>
                <a:spcPct val="125000"/>
              </a:lnSpc>
              <a:spcBef>
                <a:spcPts val="675"/>
              </a:spcBef>
            </a:pPr>
            <a:r>
              <a:rPr dirty="0" sz="1200">
                <a:latin typeface="Times New Roman"/>
                <a:cs typeface="Times New Roman"/>
              </a:rPr>
              <a:t>Devlina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Dutta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10">
                <a:latin typeface="Times New Roman"/>
                <a:cs typeface="Times New Roman"/>
              </a:rPr>
              <a:t> B.Tech-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CSE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(AI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&amp;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ML),</a:t>
            </a:r>
            <a:r>
              <a:rPr dirty="0" sz="1200" spc="-10">
                <a:latin typeface="Times New Roman"/>
                <a:cs typeface="Times New Roman"/>
              </a:rPr>
              <a:t> Section-</a:t>
            </a:r>
            <a:r>
              <a:rPr dirty="0" sz="1200">
                <a:latin typeface="Times New Roman"/>
                <a:cs typeface="Times New Roman"/>
              </a:rPr>
              <a:t>H,</a:t>
            </a:r>
            <a:r>
              <a:rPr dirty="0" sz="1200" spc="-10">
                <a:latin typeface="Times New Roman"/>
                <a:cs typeface="Times New Roman"/>
              </a:rPr>
              <a:t> UG/SOET/30/24/036,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Adamas</a:t>
            </a:r>
            <a:r>
              <a:rPr dirty="0" sz="1200" spc="-10">
                <a:latin typeface="Times New Roman"/>
                <a:cs typeface="Times New Roman"/>
              </a:rPr>
              <a:t> University, Email: </a:t>
            </a:r>
            <a:r>
              <a:rPr dirty="0" sz="1200" spc="-20">
                <a:latin typeface="Times New Roman"/>
                <a:cs typeface="Times New Roman"/>
              </a:rPr>
              <a:t>[</a:t>
            </a: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devlina1.dutta@stu.adamasuniversi</a:t>
            </a:r>
            <a:r>
              <a:rPr dirty="0" sz="1200" spc="-20">
                <a:latin typeface="Times New Roman"/>
                <a:cs typeface="Times New Roman"/>
                <a:hlinkClick r:id="rId7"/>
              </a:rPr>
              <a:t>ty</a:t>
            </a:r>
            <a:r>
              <a:rPr dirty="0" u="sng" sz="1200" spc="1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.ac.in</a:t>
            </a:r>
            <a:r>
              <a:rPr dirty="0" sz="1200" spc="-1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200">
              <a:latin typeface="Times New Roman"/>
              <a:cs typeface="Times New Roman"/>
            </a:endParaRPr>
          </a:p>
          <a:p>
            <a:pPr marL="553085">
              <a:lnSpc>
                <a:spcPct val="100000"/>
              </a:lnSpc>
            </a:pPr>
            <a:r>
              <a:rPr dirty="0" sz="1200" spc="-10" b="1">
                <a:latin typeface="Times New Roman"/>
                <a:cs typeface="Times New Roman"/>
              </a:rPr>
              <a:t>Keywords: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Large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language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artificial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intelligence,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healthcare,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decision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documentation,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ethics,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multimodal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AI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200">
              <a:latin typeface="Times New Roman"/>
              <a:cs typeface="Times New Roman"/>
            </a:endParaRPr>
          </a:p>
          <a:p>
            <a:pPr marL="553085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Word</a:t>
            </a:r>
            <a:r>
              <a:rPr dirty="0" sz="1200" spc="-7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Count: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901700" y="10990579"/>
            <a:ext cx="8136890" cy="346392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dirty="0" sz="1800" spc="-10" b="1">
                <a:latin typeface="Times New Roman"/>
                <a:cs typeface="Times New Roman"/>
              </a:rPr>
              <a:t>Plain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Language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Summary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25000"/>
              </a:lnSpc>
              <a:spcBef>
                <a:spcPts val="480"/>
              </a:spcBef>
            </a:pPr>
            <a:r>
              <a:rPr dirty="0" sz="1200">
                <a:latin typeface="Times New Roman"/>
                <a:cs typeface="Times New Roman"/>
              </a:rPr>
              <a:t>Large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language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(LLMs)—advanced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understand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generate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human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language—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rapidly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transforming healthcare.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doctors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better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decisions,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write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notes,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patient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communication,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accelerate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Despite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promise,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challenges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around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accuracy,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privacy,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physician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workflows.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This </a:t>
            </a:r>
            <a:r>
              <a:rPr dirty="0" sz="1200">
                <a:latin typeface="Times New Roman"/>
                <a:cs typeface="Times New Roman"/>
              </a:rPr>
              <a:t>review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examines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adopted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healthcare,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benefits,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current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limitations,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future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possibilities.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Times New Roman"/>
                <a:cs typeface="Times New Roman"/>
              </a:rPr>
              <a:t>Abstract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200" spc="-10" b="1">
                <a:latin typeface="Times New Roman"/>
                <a:cs typeface="Times New Roman"/>
              </a:rPr>
              <a:t>Background:</a:t>
            </a:r>
            <a:endParaRPr sz="1200">
              <a:latin typeface="Times New Roman"/>
              <a:cs typeface="Times New Roman"/>
            </a:endParaRPr>
          </a:p>
          <a:p>
            <a:pPr marL="12700" marR="35560">
              <a:lnSpc>
                <a:spcPct val="125000"/>
              </a:lnSpc>
              <a:spcBef>
                <a:spcPts val="600"/>
              </a:spcBef>
            </a:pPr>
            <a:r>
              <a:rPr dirty="0" sz="1200">
                <a:latin typeface="Times New Roman"/>
                <a:cs typeface="Times New Roman"/>
              </a:rPr>
              <a:t>Large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language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(LLMs)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transforming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healthcare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ability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analyze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amounts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text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clinical practice.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10" b="1">
                <a:latin typeface="Times New Roman"/>
                <a:cs typeface="Times New Roman"/>
              </a:rPr>
              <a:t>Objectives: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2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assess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technical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evolution,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impact,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challenges,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future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directions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healthcare.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47800" y="5473700"/>
            <a:ext cx="6396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Title: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Large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Language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Models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Artificial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Intelligence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Healthcare: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Comprehensive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Review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400" y="3428999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14400" y="5010149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14400" y="6362698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19174" y="136874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19174" y="142398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01700" y="911225"/>
            <a:ext cx="8244840" cy="13438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Methods:</a:t>
            </a:r>
            <a:endParaRPr sz="1200">
              <a:latin typeface="Times New Roman"/>
              <a:cs typeface="Times New Roman"/>
            </a:endParaRPr>
          </a:p>
          <a:p>
            <a:pPr marL="12700" marR="539115">
              <a:lnSpc>
                <a:spcPct val="125000"/>
              </a:lnSpc>
              <a:spcBef>
                <a:spcPts val="600"/>
              </a:spcBef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narrative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review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literature,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advances,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studies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evaluating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diagnostics, workflow,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documentation,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education.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10" b="1">
                <a:latin typeface="Times New Roman"/>
                <a:cs typeface="Times New Roman"/>
              </a:rPr>
              <a:t>Results:</a:t>
            </a:r>
            <a:endParaRPr sz="1200">
              <a:latin typeface="Times New Roman"/>
              <a:cs typeface="Times New Roman"/>
            </a:endParaRPr>
          </a:p>
          <a:p>
            <a:pPr marL="12700" marR="874394">
              <a:lnSpc>
                <a:spcPct val="125000"/>
              </a:lnSpc>
              <a:spcBef>
                <a:spcPts val="600"/>
              </a:spcBef>
            </a:pP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diagnostic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accuracy,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streamline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workflows,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documentation,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transform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education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patient communication.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Challenges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persist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hallucinations,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privacy,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contextual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reasoning,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ethics,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workflow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integration.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spc="-10" b="1">
                <a:latin typeface="Times New Roman"/>
                <a:cs typeface="Times New Roman"/>
              </a:rPr>
              <a:t>Conclusions:</a:t>
            </a:r>
            <a:endParaRPr sz="1200">
              <a:latin typeface="Times New Roman"/>
              <a:cs typeface="Times New Roman"/>
            </a:endParaRPr>
          </a:p>
          <a:p>
            <a:pPr marL="12700" marR="545465">
              <a:lnSpc>
                <a:spcPct val="125000"/>
              </a:lnSpc>
              <a:spcBef>
                <a:spcPts val="600"/>
              </a:spcBef>
            </a:pP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transformative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potential,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responsible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deployment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robust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oversight,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validation,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human-</a:t>
            </a:r>
            <a:r>
              <a:rPr dirty="0" sz="1200" spc="-25">
                <a:latin typeface="Times New Roman"/>
                <a:cs typeface="Times New Roman"/>
              </a:rPr>
              <a:t>AI </a:t>
            </a:r>
            <a:r>
              <a:rPr dirty="0" sz="1200">
                <a:latin typeface="Times New Roman"/>
                <a:cs typeface="Times New Roman"/>
              </a:rPr>
              <a:t>collaboration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attention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ethics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equity.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AutoNum type="arabicPeriod"/>
              <a:tabLst>
                <a:tab pos="233679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25000"/>
              </a:lnSpc>
              <a:spcBef>
                <a:spcPts val="480"/>
              </a:spcBef>
            </a:pPr>
            <a:r>
              <a:rPr dirty="0" sz="1200">
                <a:latin typeface="Times New Roman"/>
                <a:cs typeface="Times New Roman"/>
              </a:rPr>
              <a:t>Large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language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represent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revolutionary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advance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artificial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intelligence,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fundamentally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transforming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healthcare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delivery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practice.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ability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clinical,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enables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unprecedented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diagnostics,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workflow efficiency,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acceleration.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rise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ChatGPT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2022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spurred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further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highlighting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opportunities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critical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challenges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around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privacy,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accuracy,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ethical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deployment.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AutoNum type="arabicPeriod" startAt="2"/>
              <a:tabLst>
                <a:tab pos="233679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Methods</a:t>
            </a:r>
            <a:endParaRPr sz="1800">
              <a:latin typeface="Times New Roman"/>
              <a:cs typeface="Times New Roman"/>
            </a:endParaRPr>
          </a:p>
          <a:p>
            <a:pPr marL="12700" marR="237490">
              <a:lnSpc>
                <a:spcPct val="125000"/>
              </a:lnSpc>
              <a:spcBef>
                <a:spcPts val="480"/>
              </a:spcBef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review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synthesizes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published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world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deployments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healthcare.</a:t>
            </a:r>
            <a:r>
              <a:rPr dirty="0" sz="1200" spc="-50">
                <a:latin typeface="Times New Roman"/>
                <a:cs typeface="Times New Roman"/>
              </a:rPr>
              <a:t> We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extracted </a:t>
            </a:r>
            <a:r>
              <a:rPr dirty="0" sz="1200">
                <a:latin typeface="Times New Roman"/>
                <a:cs typeface="Times New Roman"/>
              </a:rPr>
              <a:t>applications,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performance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metrics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peer-</a:t>
            </a:r>
            <a:r>
              <a:rPr dirty="0" sz="1200">
                <a:latin typeface="Times New Roman"/>
                <a:cs typeface="Times New Roman"/>
              </a:rPr>
              <a:t>reviewed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journals,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trials,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grey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literature.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Ethical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regulatory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considerations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drawn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official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guidelines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ongoing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policy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debates.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AutoNum type="arabicPeriod" startAt="3"/>
              <a:tabLst>
                <a:tab pos="233679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Results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dirty="0" sz="1800" spc="-40" b="1">
                <a:latin typeface="Times New Roman"/>
                <a:cs typeface="Times New Roman"/>
              </a:rPr>
              <a:t>Technical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Foundations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Multimodal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Capabilities</a:t>
            </a:r>
            <a:endParaRPr sz="1800">
              <a:latin typeface="Times New Roman"/>
              <a:cs typeface="Times New Roman"/>
            </a:endParaRPr>
          </a:p>
          <a:p>
            <a:pPr marL="12700" marR="46355">
              <a:lnSpc>
                <a:spcPct val="125000"/>
              </a:lnSpc>
              <a:spcBef>
                <a:spcPts val="480"/>
              </a:spcBef>
            </a:pPr>
            <a:r>
              <a:rPr dirty="0" sz="1200" spc="-10">
                <a:latin typeface="Times New Roman"/>
                <a:cs typeface="Times New Roman"/>
              </a:rPr>
              <a:t>LLMs—</a:t>
            </a:r>
            <a:r>
              <a:rPr dirty="0" sz="1200">
                <a:latin typeface="Times New Roman"/>
                <a:cs typeface="Times New Roman"/>
              </a:rPr>
              <a:t>primarily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transformer-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architectures—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evolved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millions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billions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parameters,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natural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language </a:t>
            </a:r>
            <a:r>
              <a:rPr dirty="0" sz="1200">
                <a:latin typeface="Times New Roman"/>
                <a:cs typeface="Times New Roman"/>
              </a:rPr>
              <a:t>processing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tasks.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Domain-</a:t>
            </a:r>
            <a:r>
              <a:rPr dirty="0" sz="1200">
                <a:latin typeface="Times New Roman"/>
                <a:cs typeface="Times New Roman"/>
              </a:rPr>
              <a:t>specific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(such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GatorTron,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90+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billion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tokens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text)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outperform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Times New Roman"/>
                <a:cs typeface="Times New Roman"/>
              </a:rPr>
              <a:t>generic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concept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extraction,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identification,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question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answering.</a:t>
            </a:r>
            <a:endParaRPr sz="1200">
              <a:latin typeface="Times New Roman"/>
              <a:cs typeface="Times New Roman"/>
            </a:endParaRPr>
          </a:p>
          <a:p>
            <a:pPr marL="12700" marR="221615">
              <a:lnSpc>
                <a:spcPct val="125000"/>
              </a:lnSpc>
              <a:spcBef>
                <a:spcPts val="600"/>
              </a:spcBef>
            </a:pPr>
            <a:r>
              <a:rPr dirty="0" sz="1200">
                <a:latin typeface="Times New Roman"/>
                <a:cs typeface="Times New Roman"/>
              </a:rPr>
              <a:t>Multimodal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now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images,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audio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alongside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text.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promising,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true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synergy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between </a:t>
            </a:r>
            <a:r>
              <a:rPr dirty="0" sz="1200">
                <a:latin typeface="Times New Roman"/>
                <a:cs typeface="Times New Roman"/>
              </a:rPr>
              <a:t>modalities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(e.g.,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Med-</a:t>
            </a:r>
            <a:r>
              <a:rPr dirty="0" sz="1200">
                <a:latin typeface="Times New Roman"/>
                <a:cs typeface="Times New Roman"/>
              </a:rPr>
              <a:t>Flamingo,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LLaVA-</a:t>
            </a:r>
            <a:r>
              <a:rPr dirty="0" sz="1200">
                <a:latin typeface="Times New Roman"/>
                <a:cs typeface="Times New Roman"/>
              </a:rPr>
              <a:t>Med)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early-</a:t>
            </a:r>
            <a:r>
              <a:rPr dirty="0" sz="1200">
                <a:latin typeface="Times New Roman"/>
                <a:cs typeface="Times New Roman"/>
              </a:rPr>
              <a:t>stage,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text-</a:t>
            </a:r>
            <a:r>
              <a:rPr dirty="0" sz="1200">
                <a:latin typeface="Times New Roman"/>
                <a:cs typeface="Times New Roman"/>
              </a:rPr>
              <a:t>only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baselines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still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highly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competitive.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20" b="1">
                <a:latin typeface="Times New Roman"/>
                <a:cs typeface="Times New Roman"/>
              </a:rPr>
              <a:t>Clinical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Decision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Support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Diagnostic</a:t>
            </a:r>
            <a:r>
              <a:rPr dirty="0" sz="1800" spc="-1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Applications</a:t>
            </a:r>
            <a:endParaRPr sz="1800">
              <a:latin typeface="Times New Roman"/>
              <a:cs typeface="Times New Roman"/>
            </a:endParaRPr>
          </a:p>
          <a:p>
            <a:pPr algn="just" marL="12700" marR="107950">
              <a:lnSpc>
                <a:spcPct val="125000"/>
              </a:lnSpc>
              <a:spcBef>
                <a:spcPts val="480"/>
              </a:spcBef>
            </a:pP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analyze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patient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symptoms,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literature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diagnosis.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Diagnostic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accuracy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(25–97.8%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across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contexts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specialties),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sometimes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matching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exceeding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physicians—</a:t>
            </a:r>
            <a:r>
              <a:rPr dirty="0" sz="1200">
                <a:latin typeface="Times New Roman"/>
                <a:cs typeface="Times New Roman"/>
              </a:rPr>
              <a:t>notably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ophthalmology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emergency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care.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instance,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Times New Roman"/>
                <a:cs typeface="Times New Roman"/>
              </a:rPr>
              <a:t>GPT-</a:t>
            </a:r>
            <a:r>
              <a:rPr dirty="0" sz="1200" spc="-50">
                <a:latin typeface="Times New Roman"/>
                <a:cs typeface="Times New Roman"/>
              </a:rPr>
              <a:t>4 </a:t>
            </a:r>
            <a:r>
              <a:rPr dirty="0" sz="1200">
                <a:latin typeface="Times New Roman"/>
                <a:cs typeface="Times New Roman"/>
              </a:rPr>
              <a:t>outperformed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resident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physicians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standardized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medicine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vignettes,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GatoTron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pharmacovigilance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by </a:t>
            </a:r>
            <a:r>
              <a:rPr dirty="0" sz="1200">
                <a:latin typeface="Times New Roman"/>
                <a:cs typeface="Times New Roman"/>
              </a:rPr>
              <a:t>identifying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drug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interactions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electronic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records.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25" b="1">
                <a:latin typeface="Times New Roman"/>
                <a:cs typeface="Times New Roman"/>
              </a:rPr>
              <a:t>Medical</a:t>
            </a:r>
            <a:r>
              <a:rPr dirty="0" sz="1800" spc="-8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Writing,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Documentation,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Education</a:t>
            </a:r>
            <a:endParaRPr sz="1800">
              <a:latin typeface="Times New Roman"/>
              <a:cs typeface="Times New Roman"/>
            </a:endParaRPr>
          </a:p>
          <a:p>
            <a:pPr marL="12700" marR="15240">
              <a:lnSpc>
                <a:spcPct val="125000"/>
              </a:lnSpc>
              <a:spcBef>
                <a:spcPts val="480"/>
              </a:spcBef>
            </a:pP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streamline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writing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drafting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manuscripts,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summaries,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notes.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simplify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complex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improve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communication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clarity.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education,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simulate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realistic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patient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encounters,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tutors,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personalize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learning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trainees.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patients,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explain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radiology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triage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urgency,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matching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physician-</a:t>
            </a:r>
            <a:r>
              <a:rPr dirty="0" sz="1200">
                <a:latin typeface="Times New Roman"/>
                <a:cs typeface="Times New Roman"/>
              </a:rPr>
              <a:t>level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accuracy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certain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tasks.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20" b="1">
                <a:latin typeface="Times New Roman"/>
                <a:cs typeface="Times New Roman"/>
              </a:rPr>
              <a:t>Diagnostic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Imaging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spc="-40" b="1">
                <a:latin typeface="Times New Roman"/>
                <a:cs typeface="Times New Roman"/>
              </a:rPr>
              <a:t>Workflow</a:t>
            </a:r>
            <a:r>
              <a:rPr dirty="0" sz="1800" spc="-1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Automation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and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AI-</a:t>
            </a:r>
            <a:r>
              <a:rPr dirty="0" sz="1200">
                <a:latin typeface="Times New Roman"/>
                <a:cs typeface="Times New Roman"/>
              </a:rPr>
              <a:t>driven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achieved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human-level—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often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superior—</a:t>
            </a:r>
            <a:r>
              <a:rPr dirty="0" sz="1200">
                <a:latin typeface="Times New Roman"/>
                <a:cs typeface="Times New Roman"/>
              </a:rPr>
              <a:t>performance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classifying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radiological</a:t>
            </a:r>
            <a:endParaRPr sz="1200">
              <a:latin typeface="Times New Roman"/>
              <a:cs typeface="Times New Roman"/>
            </a:endParaRPr>
          </a:p>
          <a:p>
            <a:pPr marL="12700" marR="313055">
              <a:lnSpc>
                <a:spcPct val="125000"/>
              </a:lnSpc>
            </a:pPr>
            <a:r>
              <a:rPr dirty="0" sz="1200">
                <a:latin typeface="Times New Roman"/>
                <a:cs typeface="Times New Roman"/>
              </a:rPr>
              <a:t>images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pathology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slides.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Automated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reduces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workload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increases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efficiency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clinicians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staff.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latin typeface="Times New Roman"/>
                <a:cs typeface="Times New Roman"/>
              </a:rPr>
              <a:t>AI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accelerate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outbreak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detection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diagnosis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(e.g.,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rapid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differentiation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respiratory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viruses,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COVID-</a:t>
            </a:r>
            <a:r>
              <a:rPr dirty="0" sz="1200" spc="-20">
                <a:latin typeface="Times New Roman"/>
                <a:cs typeface="Times New Roman"/>
              </a:rPr>
              <a:t>19).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20" b="1">
                <a:latin typeface="Times New Roman"/>
                <a:cs typeface="Times New Roman"/>
              </a:rPr>
              <a:t>Challenges,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Limitations,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Ethical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Issues</a:t>
            </a:r>
            <a:endParaRPr sz="1800">
              <a:latin typeface="Times New Roman"/>
              <a:cs typeface="Times New Roman"/>
            </a:endParaRPr>
          </a:p>
          <a:p>
            <a:pPr marL="286385" marR="457834">
              <a:lnSpc>
                <a:spcPct val="125000"/>
              </a:lnSpc>
              <a:spcBef>
                <a:spcPts val="555"/>
              </a:spcBef>
            </a:pPr>
            <a:r>
              <a:rPr dirty="0" sz="1200" b="1">
                <a:latin typeface="Times New Roman"/>
                <a:cs typeface="Times New Roman"/>
              </a:rPr>
              <a:t>Hallucinations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Reliability: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High-</a:t>
            </a:r>
            <a:r>
              <a:rPr dirty="0" sz="1200">
                <a:latin typeface="Times New Roman"/>
                <a:cs typeface="Times New Roman"/>
              </a:rPr>
              <a:t>stakes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environments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demand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rigorous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validation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prevent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misleading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clinicians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or </a:t>
            </a:r>
            <a:r>
              <a:rPr dirty="0" sz="1200" spc="-10">
                <a:latin typeface="Times New Roman"/>
                <a:cs typeface="Times New Roman"/>
              </a:rPr>
              <a:t>patients.</a:t>
            </a:r>
            <a:endParaRPr sz="12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1110"/>
              </a:spcBef>
            </a:pPr>
            <a:r>
              <a:rPr dirty="0" sz="1200" spc="-10" b="1">
                <a:latin typeface="Times New Roman"/>
                <a:cs typeface="Times New Roman"/>
              </a:rPr>
              <a:t>Interpretability: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Black-</a:t>
            </a:r>
            <a:r>
              <a:rPr dirty="0" sz="1200">
                <a:latin typeface="Times New Roman"/>
                <a:cs typeface="Times New Roman"/>
              </a:rPr>
              <a:t>box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decisions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complicate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accountability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evidence-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practice.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400" y="3352798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14400" y="5467348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14400" y="7048498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14400" y="10067923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19174" y="10096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19174" y="13334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19174" y="18764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602717" y="10829922"/>
            <a:ext cx="33020" cy="9525"/>
          </a:xfrm>
          <a:custGeom>
            <a:avLst/>
            <a:gdLst/>
            <a:ahLst/>
            <a:cxnLst/>
            <a:rect l="l" t="t" r="r" b="b"/>
            <a:pathLst>
              <a:path w="33020" h="9525">
                <a:moveTo>
                  <a:pt x="32771" y="9524"/>
                </a:moveTo>
                <a:lnTo>
                  <a:pt x="0" y="9524"/>
                </a:lnTo>
                <a:lnTo>
                  <a:pt x="0" y="0"/>
                </a:lnTo>
                <a:lnTo>
                  <a:pt x="32771" y="0"/>
                </a:lnTo>
                <a:lnTo>
                  <a:pt x="32771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81494" y="11134722"/>
            <a:ext cx="33020" cy="9525"/>
          </a:xfrm>
          <a:custGeom>
            <a:avLst/>
            <a:gdLst/>
            <a:ahLst/>
            <a:cxnLst/>
            <a:rect l="l" t="t" r="r" b="b"/>
            <a:pathLst>
              <a:path w="33019" h="9525">
                <a:moveTo>
                  <a:pt x="32771" y="9524"/>
                </a:moveTo>
                <a:lnTo>
                  <a:pt x="0" y="9524"/>
                </a:lnTo>
                <a:lnTo>
                  <a:pt x="0" y="0"/>
                </a:lnTo>
                <a:lnTo>
                  <a:pt x="32771" y="0"/>
                </a:lnTo>
                <a:lnTo>
                  <a:pt x="32771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691145" y="11439522"/>
            <a:ext cx="33020" cy="9525"/>
          </a:xfrm>
          <a:custGeom>
            <a:avLst/>
            <a:gdLst/>
            <a:ahLst/>
            <a:cxnLst/>
            <a:rect l="l" t="t" r="r" b="b"/>
            <a:pathLst>
              <a:path w="33020" h="9525">
                <a:moveTo>
                  <a:pt x="32771" y="9524"/>
                </a:moveTo>
                <a:lnTo>
                  <a:pt x="0" y="9524"/>
                </a:lnTo>
                <a:lnTo>
                  <a:pt x="0" y="0"/>
                </a:lnTo>
                <a:lnTo>
                  <a:pt x="32771" y="0"/>
                </a:lnTo>
                <a:lnTo>
                  <a:pt x="32771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976053" y="12049122"/>
            <a:ext cx="33020" cy="9525"/>
          </a:xfrm>
          <a:custGeom>
            <a:avLst/>
            <a:gdLst/>
            <a:ahLst/>
            <a:cxnLst/>
            <a:rect l="l" t="t" r="r" b="b"/>
            <a:pathLst>
              <a:path w="33020" h="9525">
                <a:moveTo>
                  <a:pt x="32771" y="9524"/>
                </a:moveTo>
                <a:lnTo>
                  <a:pt x="0" y="9524"/>
                </a:lnTo>
                <a:lnTo>
                  <a:pt x="0" y="0"/>
                </a:lnTo>
                <a:lnTo>
                  <a:pt x="32771" y="0"/>
                </a:lnTo>
                <a:lnTo>
                  <a:pt x="32771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541279" y="12658722"/>
            <a:ext cx="22225" cy="9525"/>
          </a:xfrm>
          <a:custGeom>
            <a:avLst/>
            <a:gdLst/>
            <a:ahLst/>
            <a:cxnLst/>
            <a:rect l="l" t="t" r="r" b="b"/>
            <a:pathLst>
              <a:path w="22225" h="9525">
                <a:moveTo>
                  <a:pt x="21907" y="9524"/>
                </a:moveTo>
                <a:lnTo>
                  <a:pt x="0" y="9524"/>
                </a:lnTo>
                <a:lnTo>
                  <a:pt x="0" y="0"/>
                </a:lnTo>
                <a:lnTo>
                  <a:pt x="21907" y="0"/>
                </a:lnTo>
                <a:lnTo>
                  <a:pt x="21907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683534" y="13268323"/>
            <a:ext cx="33020" cy="9525"/>
          </a:xfrm>
          <a:custGeom>
            <a:avLst/>
            <a:gdLst/>
            <a:ahLst/>
            <a:cxnLst/>
            <a:rect l="l" t="t" r="r" b="b"/>
            <a:pathLst>
              <a:path w="33020" h="9525">
                <a:moveTo>
                  <a:pt x="32772" y="9524"/>
                </a:moveTo>
                <a:lnTo>
                  <a:pt x="0" y="9524"/>
                </a:lnTo>
                <a:lnTo>
                  <a:pt x="0" y="0"/>
                </a:lnTo>
                <a:lnTo>
                  <a:pt x="32772" y="0"/>
                </a:lnTo>
                <a:lnTo>
                  <a:pt x="32772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901700" y="911225"/>
            <a:ext cx="8237220" cy="1360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Bias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Quality: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Limited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non-</a:t>
            </a:r>
            <a:r>
              <a:rPr dirty="0" sz="1200">
                <a:latin typeface="Times New Roman"/>
                <a:cs typeface="Times New Roman"/>
              </a:rPr>
              <a:t>diverse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embed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social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demographic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biases.</a:t>
            </a:r>
            <a:endParaRPr sz="1200">
              <a:latin typeface="Times New Roman"/>
              <a:cs typeface="Times New Roman"/>
            </a:endParaRPr>
          </a:p>
          <a:p>
            <a:pPr marL="286385" marR="557530">
              <a:lnSpc>
                <a:spcPct val="125000"/>
              </a:lnSpc>
              <a:spcBef>
                <a:spcPts val="750"/>
              </a:spcBef>
            </a:pPr>
            <a:r>
              <a:rPr dirty="0" sz="1200" b="1">
                <a:latin typeface="Times New Roman"/>
                <a:cs typeface="Times New Roman"/>
              </a:rPr>
              <a:t>Privacy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Regulation: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Handling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sensitive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HIPAA,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GDPR,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other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regulations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brings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risks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data </a:t>
            </a:r>
            <a:r>
              <a:rPr dirty="0" sz="1200" spc="-10">
                <a:latin typeface="Times New Roman"/>
                <a:cs typeface="Times New Roman"/>
              </a:rPr>
              <a:t>breaches.</a:t>
            </a:r>
            <a:endParaRPr sz="1200">
              <a:latin typeface="Times New Roman"/>
              <a:cs typeface="Times New Roman"/>
            </a:endParaRPr>
          </a:p>
          <a:p>
            <a:pPr marL="286385" marR="446405">
              <a:lnSpc>
                <a:spcPct val="125000"/>
              </a:lnSpc>
              <a:spcBef>
                <a:spcPts val="675"/>
              </a:spcBef>
            </a:pPr>
            <a:r>
              <a:rPr dirty="0" sz="1200" b="1">
                <a:latin typeface="Times New Roman"/>
                <a:cs typeface="Times New Roman"/>
              </a:rPr>
              <a:t>Workflow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Integration: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Physician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collaboration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always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diagnostic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reasoning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without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careful design.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20" b="1">
                <a:latin typeface="Times New Roman"/>
                <a:cs typeface="Times New Roman"/>
              </a:rPr>
              <a:t>Geographic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Specialty</a:t>
            </a:r>
            <a:r>
              <a:rPr dirty="0" sz="1800" spc="-7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Trends</a:t>
            </a:r>
            <a:endParaRPr sz="1800">
              <a:latin typeface="Times New Roman"/>
              <a:cs typeface="Times New Roman"/>
            </a:endParaRPr>
          </a:p>
          <a:p>
            <a:pPr marL="12700" marR="160020">
              <a:lnSpc>
                <a:spcPct val="125000"/>
              </a:lnSpc>
              <a:spcBef>
                <a:spcPts val="480"/>
              </a:spcBef>
            </a:pPr>
            <a:r>
              <a:rPr dirty="0" sz="1200">
                <a:latin typeface="Times New Roman"/>
                <a:cs typeface="Times New Roman"/>
              </a:rPr>
              <a:t>Most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originates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United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India,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Germany,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potentially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limiting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generalizability.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Specialties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like </a:t>
            </a:r>
            <a:r>
              <a:rPr dirty="0" sz="1200" spc="-10">
                <a:latin typeface="Times New Roman"/>
                <a:cs typeface="Times New Roman"/>
              </a:rPr>
              <a:t>genitourinary,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digestive,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cardiovascular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medicine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adoption,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psychiatry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neurology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underexplored.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AutoNum type="arabicPeriod" startAt="4"/>
              <a:tabLst>
                <a:tab pos="233679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Discussion</a:t>
            </a:r>
            <a:endParaRPr sz="1800">
              <a:latin typeface="Times New Roman"/>
              <a:cs typeface="Times New Roman"/>
            </a:endParaRPr>
          </a:p>
          <a:p>
            <a:pPr algn="just" marL="12700" marR="433705">
              <a:lnSpc>
                <a:spcPct val="125000"/>
              </a:lnSpc>
              <a:spcBef>
                <a:spcPts val="480"/>
              </a:spcBef>
            </a:pP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reshaping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multiple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aspects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healthcare.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Evidence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shows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rival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surpass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human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experts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defined </a:t>
            </a:r>
            <a:r>
              <a:rPr dirty="0" sz="1200">
                <a:latin typeface="Times New Roman"/>
                <a:cs typeface="Times New Roman"/>
              </a:rPr>
              <a:t>diagnostic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tasks,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streamline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documentation,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enable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educational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methods.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Times New Roman"/>
                <a:cs typeface="Times New Roman"/>
              </a:rPr>
              <a:t>Yet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limitations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persist: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hallucinations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may</a:t>
            </a: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Times New Roman"/>
                <a:cs typeface="Times New Roman"/>
              </a:rPr>
              <a:t>compromise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patient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safety,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interpretability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remains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challenging,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equity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concerns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arise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biased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25000"/>
              </a:lnSpc>
              <a:spcBef>
                <a:spcPts val="600"/>
              </a:spcBef>
            </a:pPr>
            <a:r>
              <a:rPr dirty="0" sz="1200">
                <a:latin typeface="Times New Roman"/>
                <a:cs typeface="Times New Roman"/>
              </a:rPr>
              <a:t>Successful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implementation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depends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multidisciplinary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governance,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transparent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workflows,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ongoing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evaluation.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Multimodal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domain-</a:t>
            </a:r>
            <a:r>
              <a:rPr dirty="0" sz="1200">
                <a:latin typeface="Times New Roman"/>
                <a:cs typeface="Times New Roman"/>
              </a:rPr>
              <a:t>specialized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offer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promising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next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steps.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Human-</a:t>
            </a:r>
            <a:r>
              <a:rPr dirty="0" sz="1200">
                <a:latin typeface="Times New Roman"/>
                <a:cs typeface="Times New Roman"/>
              </a:rPr>
              <a:t>AI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collaboration—</a:t>
            </a:r>
            <a:r>
              <a:rPr dirty="0" sz="1200">
                <a:latin typeface="Times New Roman"/>
                <a:cs typeface="Times New Roman"/>
              </a:rPr>
              <a:t>rather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replacement—</a:t>
            </a:r>
            <a:r>
              <a:rPr dirty="0" sz="1200">
                <a:latin typeface="Times New Roman"/>
                <a:cs typeface="Times New Roman"/>
              </a:rPr>
              <a:t>will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maximize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benefits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minimize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risks.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233679" indent="-220979">
              <a:lnSpc>
                <a:spcPct val="100000"/>
              </a:lnSpc>
              <a:buAutoNum type="arabicPeriod" startAt="5"/>
              <a:tabLst>
                <a:tab pos="233679" algn="l"/>
              </a:tabLst>
            </a:pPr>
            <a:r>
              <a:rPr dirty="0" sz="1800" spc="-10" b="1">
                <a:latin typeface="Times New Roman"/>
                <a:cs typeface="Times New Roman"/>
              </a:rPr>
              <a:t>Conclusion</a:t>
            </a:r>
            <a:endParaRPr sz="1800">
              <a:latin typeface="Times New Roman"/>
              <a:cs typeface="Times New Roman"/>
            </a:endParaRPr>
          </a:p>
          <a:p>
            <a:pPr marL="12700" marR="57785">
              <a:lnSpc>
                <a:spcPct val="125000"/>
              </a:lnSpc>
              <a:spcBef>
                <a:spcPts val="480"/>
              </a:spcBef>
            </a:pPr>
            <a:r>
              <a:rPr dirty="0" sz="1200">
                <a:latin typeface="Times New Roman"/>
                <a:cs typeface="Times New Roman"/>
              </a:rPr>
              <a:t>LLMs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poised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transform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healthcare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delivery,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spanning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administration,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education,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beyond. </a:t>
            </a:r>
            <a:r>
              <a:rPr dirty="0" sz="1200" spc="-40">
                <a:latin typeface="Times New Roman"/>
                <a:cs typeface="Times New Roman"/>
              </a:rPr>
              <a:t>Yet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responsible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deployment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balance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innovation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caution—</a:t>
            </a:r>
            <a:r>
              <a:rPr dirty="0" sz="1200">
                <a:latin typeface="Times New Roman"/>
                <a:cs typeface="Times New Roman"/>
              </a:rPr>
              <a:t>ensuring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accuracy,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privacy,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fairness,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clinician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oversight </a:t>
            </a:r>
            <a:r>
              <a:rPr dirty="0" sz="1200">
                <a:latin typeface="Times New Roman"/>
                <a:cs typeface="Times New Roman"/>
              </a:rPr>
              <a:t>remain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paramount.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Future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progress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technical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solutions,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regulatory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frameworks,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sustained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interdisciplinary </a:t>
            </a:r>
            <a:r>
              <a:rPr dirty="0" sz="1200">
                <a:latin typeface="Times New Roman"/>
                <a:cs typeface="Times New Roman"/>
              </a:rPr>
              <a:t>collaboration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technologies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augment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rather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replace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human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healthcare.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Times New Roman"/>
                <a:cs typeface="Times New Roman"/>
              </a:rPr>
              <a:t>Disclosures</a:t>
            </a:r>
            <a:endParaRPr sz="18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765"/>
              </a:spcBef>
            </a:pPr>
            <a:r>
              <a:rPr dirty="0" sz="1200" b="1">
                <a:latin typeface="Times New Roman"/>
                <a:cs typeface="Times New Roman"/>
              </a:rPr>
              <a:t>Author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Contributions:</a:t>
            </a:r>
            <a:endParaRPr sz="12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latin typeface="Times New Roman"/>
                <a:cs typeface="Times New Roman"/>
              </a:rPr>
              <a:t>Debargha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Brahma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drafted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manuscript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;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Devlina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Dutta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analysed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data;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authors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approved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version.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b="1">
                <a:latin typeface="Times New Roman"/>
                <a:cs typeface="Times New Roman"/>
              </a:rPr>
              <a:t>Conflict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Interest: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authors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declare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conflicts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interest.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b="1">
                <a:latin typeface="Times New Roman"/>
                <a:cs typeface="Times New Roman"/>
              </a:rPr>
              <a:t>Data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Access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Statement: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latin typeface="Times New Roman"/>
                <a:cs typeface="Times New Roman"/>
              </a:rPr>
              <a:t>All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available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reasonable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request.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 b="1">
                <a:latin typeface="Times New Roman"/>
                <a:cs typeface="Times New Roman"/>
              </a:rPr>
              <a:t>Ethics </a:t>
            </a:r>
            <a:r>
              <a:rPr dirty="0" sz="1200" spc="-10" b="1">
                <a:latin typeface="Times New Roman"/>
                <a:cs typeface="Times New Roman"/>
              </a:rPr>
              <a:t>Statement: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latin typeface="Times New Roman"/>
                <a:cs typeface="Times New Roman"/>
              </a:rPr>
              <a:t>Not </a:t>
            </a:r>
            <a:r>
              <a:rPr dirty="0" sz="1200" spc="-10">
                <a:latin typeface="Times New Roman"/>
                <a:cs typeface="Times New Roman"/>
              </a:rPr>
              <a:t>applicable.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Times New Roman"/>
                <a:cs typeface="Times New Roman"/>
              </a:rPr>
              <a:t>References</a:t>
            </a:r>
            <a:endParaRPr sz="18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84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Large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Language Models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in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Healthcare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and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Medical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Applications: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A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Review</a:t>
            </a:r>
            <a:endParaRPr sz="12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The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a</a:t>
            </a:r>
            <a:r>
              <a:rPr dirty="0" sz="1200" b="1">
                <a:latin typeface="Times New Roman"/>
                <a:cs typeface="Times New Roman"/>
                <a:hlinkClick r:id="rId3"/>
              </a:rPr>
              <a:t>pp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lication of large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language models in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medicine: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A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sco</a:t>
            </a:r>
            <a:r>
              <a:rPr dirty="0" sz="1200" spc="-10" b="1">
                <a:latin typeface="Times New Roman"/>
                <a:cs typeface="Times New Roman"/>
                <a:hlinkClick r:id="rId3"/>
              </a:rPr>
              <a:t>p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ing</a:t>
            </a:r>
            <a:r>
              <a:rPr dirty="0" sz="1200" spc="-204" b="1"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review</a:t>
            </a:r>
            <a:endParaRPr sz="12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Large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Language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Models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in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Medicine: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Applications</a:t>
            </a:r>
            <a:r>
              <a:rPr dirty="0" sz="1200" b="1">
                <a:latin typeface="Times New Roman"/>
                <a:cs typeface="Times New Roman"/>
                <a:hlinkClick r:id="rId4"/>
              </a:rPr>
              <a:t>,</a:t>
            </a:r>
            <a:r>
              <a:rPr dirty="0" u="sng" sz="12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Challenges</a:t>
            </a:r>
            <a:r>
              <a:rPr dirty="0" sz="1200" b="1">
                <a:latin typeface="Times New Roman"/>
                <a:cs typeface="Times New Roman"/>
                <a:hlinkClick r:id="rId4"/>
              </a:rPr>
              <a:t>,</a:t>
            </a:r>
            <a:r>
              <a:rPr dirty="0" u="sng" sz="12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and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Future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Directions</a:t>
            </a:r>
            <a:endParaRPr sz="12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Impact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of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Artificial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Intell</a:t>
            </a:r>
            <a:r>
              <a:rPr dirty="0" sz="1200" b="1">
                <a:latin typeface="Times New Roman"/>
                <a:cs typeface="Times New Roman"/>
                <a:hlinkClick r:id="rId5"/>
              </a:rPr>
              <a:t>ig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ence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sz="1200" b="1">
                <a:latin typeface="Times New Roman"/>
                <a:cs typeface="Times New Roman"/>
                <a:hlinkClick r:id="rId5"/>
              </a:rPr>
              <a:t>(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AI</a:t>
            </a:r>
            <a:r>
              <a:rPr dirty="0" sz="1200" b="1">
                <a:latin typeface="Times New Roman"/>
                <a:cs typeface="Times New Roman"/>
                <a:hlinkClick r:id="rId5"/>
              </a:rPr>
              <a:t>)</a:t>
            </a:r>
            <a:r>
              <a:rPr dirty="0" u="sng" sz="1200" spc="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Technolo</a:t>
            </a:r>
            <a:r>
              <a:rPr dirty="0" sz="1200" spc="-20" b="1">
                <a:latin typeface="Times New Roman"/>
                <a:cs typeface="Times New Roman"/>
                <a:hlinkClick r:id="rId5"/>
              </a:rPr>
              <a:t>gy</a:t>
            </a:r>
            <a:r>
              <a:rPr dirty="0" u="sng" sz="1200" spc="1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in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Healthcare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Sector: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A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Critical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Evaluation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of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Both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Sides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of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the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Coin</a:t>
            </a:r>
            <a:endParaRPr sz="12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Frontiers</a:t>
            </a:r>
            <a:r>
              <a:rPr dirty="0" sz="1200" spc="-25" b="1">
                <a:latin typeface="Times New Roman"/>
                <a:cs typeface="Times New Roman"/>
                <a:hlinkClick r:id="rId6"/>
              </a:rPr>
              <a:t> </a:t>
            </a:r>
            <a:r>
              <a:rPr dirty="0" sz="1200" b="1">
                <a:latin typeface="Times New Roman"/>
                <a:cs typeface="Times New Roman"/>
                <a:hlinkClick r:id="rId6"/>
              </a:rPr>
              <a:t>|</a:t>
            </a:r>
            <a:r>
              <a:rPr dirty="0" u="sng" sz="1200" spc="-5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Editorial: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Large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Language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Models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for</a:t>
            </a:r>
            <a:r>
              <a:rPr dirty="0" u="sng" sz="12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medical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a</a:t>
            </a:r>
            <a:r>
              <a:rPr dirty="0" sz="1200" spc="-10" b="1">
                <a:latin typeface="Times New Roman"/>
                <a:cs typeface="Times New Roman"/>
                <a:hlinkClick r:id="rId6"/>
              </a:rPr>
              <a:t>pp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lications</a:t>
            </a:r>
            <a:endParaRPr sz="12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Artificial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intell</a:t>
            </a:r>
            <a:r>
              <a:rPr dirty="0" sz="1200" b="1">
                <a:latin typeface="Times New Roman"/>
                <a:cs typeface="Times New Roman"/>
                <a:hlinkClick r:id="rId7"/>
              </a:rPr>
              <a:t>ig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ence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in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 healthcare: transforming</a:t>
            </a:r>
            <a:r>
              <a:rPr dirty="0" sz="1200" spc="-204" b="1"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200" spc="-1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the</a:t>
            </a:r>
            <a:r>
              <a:rPr dirty="0" sz="1200" spc="-5" b="1">
                <a:latin typeface="Times New Roman"/>
                <a:cs typeface="Times New Roman"/>
                <a:hlinkClick r:id="rId7"/>
              </a:rPr>
              <a:t> </a:t>
            </a:r>
            <a:r>
              <a:rPr dirty="0" sz="1200" b="1">
                <a:latin typeface="Times New Roman"/>
                <a:cs typeface="Times New Roman"/>
                <a:hlinkClick r:id="rId7"/>
              </a:rPr>
              <a:t>p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ractice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of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 medicine</a:t>
            </a:r>
            <a:endParaRPr sz="12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Large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language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models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forecast</a:t>
            </a:r>
            <a:r>
              <a:rPr dirty="0" sz="1200" spc="-20" b="1">
                <a:latin typeface="Times New Roman"/>
                <a:cs typeface="Times New Roman"/>
                <a:hlinkClick r:id="rId8"/>
              </a:rPr>
              <a:t> </a:t>
            </a:r>
            <a:r>
              <a:rPr dirty="0" sz="1200" b="1">
                <a:latin typeface="Times New Roman"/>
                <a:cs typeface="Times New Roman"/>
                <a:hlinkClick r:id="rId8"/>
              </a:rPr>
              <a:t>p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atient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health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tra</a:t>
            </a:r>
            <a:r>
              <a:rPr dirty="0" sz="1200" b="1">
                <a:latin typeface="Times New Roman"/>
                <a:cs typeface="Times New Roman"/>
                <a:hlinkClick r:id="rId8"/>
              </a:rPr>
              <a:t>j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ectories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enabling</a:t>
            </a:r>
            <a:r>
              <a:rPr dirty="0" sz="1200" spc="-204" b="1"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digital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twins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-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n</a:t>
            </a:r>
            <a:r>
              <a:rPr dirty="0" sz="1200" b="1">
                <a:latin typeface="Times New Roman"/>
                <a:cs typeface="Times New Roman"/>
                <a:hlinkClick r:id="rId8"/>
              </a:rPr>
              <a:t>pj</a:t>
            </a:r>
            <a:r>
              <a:rPr dirty="0" u="sng" sz="12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Digital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Medicine</a:t>
            </a:r>
            <a:endParaRPr sz="12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An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automated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framework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for</a:t>
            </a:r>
            <a:r>
              <a:rPr dirty="0" u="sng" sz="12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assessing</a:t>
            </a:r>
            <a:r>
              <a:rPr dirty="0" sz="1200" spc="-204" b="1"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how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well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LLMs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cite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relevant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medical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references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-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Nature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Communications</a:t>
            </a:r>
            <a:endParaRPr sz="1200">
              <a:latin typeface="Times New Roman"/>
              <a:cs typeface="Times New Roman"/>
            </a:endParaRPr>
          </a:p>
          <a:p>
            <a:pPr lvl="1" marL="127000" indent="-1270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27000" algn="l"/>
              </a:tabLst>
            </a:pP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Large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Language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Models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Could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Revolutionize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Health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Care</a:t>
            </a:r>
            <a:r>
              <a:rPr dirty="0" sz="1200" b="1">
                <a:latin typeface="Times New Roman"/>
                <a:cs typeface="Times New Roman"/>
                <a:hlinkClick r:id="rId10"/>
              </a:rPr>
              <a:t>,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but</a:t>
            </a:r>
            <a:r>
              <a:rPr dirty="0" u="sng" sz="1200" spc="-5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Technical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Hurdles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Ma</a:t>
            </a:r>
            <a:r>
              <a:rPr dirty="0" sz="1200" spc="-20" b="1">
                <a:latin typeface="Times New Roman"/>
                <a:cs typeface="Times New Roman"/>
                <a:hlinkClick r:id="rId10"/>
              </a:rPr>
              <a:t>y</a:t>
            </a:r>
            <a:r>
              <a:rPr dirty="0" u="sng" sz="1200" spc="1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Limit</a:t>
            </a:r>
            <a:r>
              <a:rPr dirty="0" u="sng" sz="12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Their</a:t>
            </a:r>
            <a:r>
              <a:rPr dirty="0" u="sng" sz="1200" spc="-9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Applications</a:t>
            </a:r>
            <a:endParaRPr sz="1200">
              <a:latin typeface="Times New Roman"/>
              <a:cs typeface="Times New Roman"/>
            </a:endParaRPr>
          </a:p>
          <a:p>
            <a:pPr lvl="1" marL="203200" indent="-20320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203200" algn="l"/>
              </a:tabLst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1"/>
              </a:rPr>
              <a:t>Tandfonline</a:t>
            </a:r>
            <a:endParaRPr sz="1200">
              <a:latin typeface="Times New Roman"/>
              <a:cs typeface="Times New Roman"/>
            </a:endParaRPr>
          </a:p>
          <a:p>
            <a:pPr lvl="1" marL="197485" indent="-19558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197485" algn="l"/>
              </a:tabLst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2"/>
              </a:rPr>
              <a:t>Jamanetwork</a:t>
            </a:r>
            <a:endParaRPr sz="1200">
              <a:latin typeface="Times New Roman"/>
              <a:cs typeface="Times New Roman"/>
            </a:endParaRPr>
          </a:p>
          <a:p>
            <a:pPr lvl="1" marL="203200" indent="-19558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203200" algn="l"/>
              </a:tabLst>
            </a:pPr>
            <a:r>
              <a:rPr dirty="0" u="sng" sz="12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7</a:t>
            </a:r>
            <a:r>
              <a:rPr dirty="0" u="sng" sz="12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ways</a:t>
            </a:r>
            <a:r>
              <a:rPr dirty="0" u="sng" sz="1200" spc="-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AI</a:t>
            </a:r>
            <a:r>
              <a:rPr dirty="0" u="sng" sz="1200" spc="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is</a:t>
            </a:r>
            <a:r>
              <a:rPr dirty="0" u="sng" sz="1200" spc="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transforming</a:t>
            </a:r>
            <a:r>
              <a:rPr dirty="0" sz="1200" spc="-200" b="1">
                <a:latin typeface="Times New Roman"/>
                <a:cs typeface="Times New Roman"/>
                <a:hlinkClick r:id="rId13"/>
              </a:rPr>
              <a:t> </a:t>
            </a:r>
            <a:r>
              <a:rPr dirty="0" u="sng" sz="12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3"/>
              </a:rPr>
              <a:t>healthcare</a:t>
            </a:r>
            <a:endParaRPr sz="1200">
              <a:latin typeface="Times New Roman"/>
              <a:cs typeface="Times New Roman"/>
            </a:endParaRPr>
          </a:p>
          <a:p>
            <a:pPr lvl="1" marL="203200" indent="-195580">
              <a:lnSpc>
                <a:spcPct val="100000"/>
              </a:lnSpc>
              <a:spcBef>
                <a:spcPts val="960"/>
              </a:spcBef>
              <a:buSzPct val="95833"/>
              <a:buAutoNum type="arabicPeriod"/>
              <a:tabLst>
                <a:tab pos="203200" algn="l"/>
              </a:tabLst>
            </a:pPr>
            <a:r>
              <a:rPr dirty="0" u="sng" sz="12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Levera</a:t>
            </a:r>
            <a:r>
              <a:rPr dirty="0" sz="1200" spc="-10" b="1">
                <a:latin typeface="Times New Roman"/>
                <a:cs typeface="Times New Roman"/>
                <a:hlinkClick r:id="rId14"/>
              </a:rPr>
              <a:t>g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ing</a:t>
            </a:r>
            <a:r>
              <a:rPr dirty="0" sz="1200" spc="-204" b="1"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spc="-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Large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Language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Models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and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AI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for</a:t>
            </a:r>
            <a:r>
              <a:rPr dirty="0" u="sng" sz="12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Intelligent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Healthcare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Systems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sz="1200" spc="-10" b="1">
                <a:latin typeface="Times New Roman"/>
                <a:cs typeface="Times New Roman"/>
                <a:hlinkClick r:id="rId14"/>
              </a:rPr>
              <a:t>(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HealthLLM</a:t>
            </a:r>
            <a:r>
              <a:rPr dirty="0" sz="1200" spc="-10" b="1">
                <a:latin typeface="Times New Roman"/>
                <a:cs typeface="Times New Roman"/>
                <a:hlinkClick r:id="rId14"/>
              </a:rPr>
              <a:t>)</a:t>
            </a:r>
            <a:r>
              <a:rPr dirty="0" u="sng" sz="1200" spc="5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–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AICCSA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 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4"/>
              </a:rPr>
              <a:t>2025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400" y="4648198"/>
            <a:ext cx="8229600" cy="9525"/>
          </a:xfrm>
          <a:custGeom>
            <a:avLst/>
            <a:gdLst/>
            <a:ahLst/>
            <a:cxnLst/>
            <a:rect l="l" t="t" r="r" b="b"/>
            <a:pathLst>
              <a:path w="8229600" h="9525">
                <a:moveTo>
                  <a:pt x="8229599" y="9524"/>
                </a:moveTo>
                <a:lnTo>
                  <a:pt x="0" y="9524"/>
                </a:lnTo>
                <a:lnTo>
                  <a:pt x="0" y="0"/>
                </a:lnTo>
                <a:lnTo>
                  <a:pt x="8229599" y="0"/>
                </a:lnTo>
                <a:lnTo>
                  <a:pt x="8229599" y="9524"/>
                </a:lnTo>
                <a:close/>
              </a:path>
            </a:pathLst>
          </a:custGeom>
          <a:solidFill>
            <a:srgbClr val="37342E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799840" y="2228849"/>
            <a:ext cx="22225" cy="9525"/>
          </a:xfrm>
          <a:custGeom>
            <a:avLst/>
            <a:gdLst/>
            <a:ahLst/>
            <a:cxnLst/>
            <a:rect l="l" t="t" r="r" b="b"/>
            <a:pathLst>
              <a:path w="22225" h="9525">
                <a:moveTo>
                  <a:pt x="21907" y="9524"/>
                </a:moveTo>
                <a:lnTo>
                  <a:pt x="0" y="9524"/>
                </a:lnTo>
                <a:lnTo>
                  <a:pt x="0" y="0"/>
                </a:lnTo>
                <a:lnTo>
                  <a:pt x="21907" y="0"/>
                </a:lnTo>
                <a:lnTo>
                  <a:pt x="21907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01700" y="911225"/>
            <a:ext cx="8244840" cy="33324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 indent="-203200">
              <a:lnSpc>
                <a:spcPct val="100000"/>
              </a:lnSpc>
              <a:spcBef>
                <a:spcPts val="100"/>
              </a:spcBef>
              <a:buAutoNum type="arabicPeriod" startAt="14"/>
              <a:tabLst>
                <a:tab pos="203200" algn="l"/>
              </a:tabLst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Mednexus</a:t>
            </a:r>
            <a:endParaRPr sz="1200">
              <a:latin typeface="Times New Roman"/>
              <a:cs typeface="Times New Roman"/>
            </a:endParaRPr>
          </a:p>
          <a:p>
            <a:pPr marL="12700" marR="357505" indent="-12700">
              <a:lnSpc>
                <a:spcPct val="125000"/>
              </a:lnSpc>
              <a:spcBef>
                <a:spcPts val="600"/>
              </a:spcBef>
              <a:buAutoNum type="arabicPeriod" startAt="14"/>
              <a:tabLst>
                <a:tab pos="203200" algn="l"/>
              </a:tabLst>
            </a:pPr>
            <a:r>
              <a:rPr dirty="0" u="sng" sz="1200" spc="-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200" spc="-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Comparing</a:t>
            </a:r>
            <a:r>
              <a:rPr dirty="0" sz="1200" spc="-200" b="1"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Diagnostic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Accurac</a:t>
            </a:r>
            <a:r>
              <a:rPr dirty="0" sz="1200" spc="-10" b="1">
                <a:latin typeface="Times New Roman"/>
                <a:cs typeface="Times New Roman"/>
                <a:hlinkClick r:id="rId3"/>
              </a:rPr>
              <a:t>y</a:t>
            </a:r>
            <a:r>
              <a:rPr dirty="0" u="sng" sz="1200" spc="1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of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Clinical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Professionals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and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Large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Language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Models: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Systematic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Review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and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Meta-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3"/>
              </a:rPr>
              <a:t>Analysis</a:t>
            </a:r>
            <a:endParaRPr sz="1200">
              <a:latin typeface="Times New Roman"/>
              <a:cs typeface="Times New Roman"/>
            </a:endParaRPr>
          </a:p>
          <a:p>
            <a:pPr marL="203200" indent="-203200">
              <a:lnSpc>
                <a:spcPct val="100000"/>
              </a:lnSpc>
              <a:spcBef>
                <a:spcPts val="960"/>
              </a:spcBef>
              <a:buAutoNum type="arabicPeriod" startAt="14"/>
              <a:tabLst>
                <a:tab pos="203200" algn="l"/>
              </a:tabLst>
            </a:pPr>
            <a:r>
              <a:rPr dirty="0" u="sng" sz="1200" spc="-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ChatGPT</a:t>
            </a:r>
            <a:r>
              <a:rPr dirty="0" u="sng" sz="1200" spc="-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With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GPT-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4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Outperforms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Emergenc</a:t>
            </a:r>
            <a:r>
              <a:rPr dirty="0" sz="1200" spc="-10" b="1">
                <a:latin typeface="Times New Roman"/>
                <a:cs typeface="Times New Roman"/>
                <a:hlinkClick r:id="rId4"/>
              </a:rPr>
              <a:t>y</a:t>
            </a:r>
            <a:r>
              <a:rPr dirty="0" u="sng" sz="1200" spc="1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Department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Physicians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in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Diagnostic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Accuracy: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Retrospective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Analysis</a:t>
            </a:r>
            <a:endParaRPr sz="1200">
              <a:latin typeface="Times New Roman"/>
              <a:cs typeface="Times New Roman"/>
            </a:endParaRPr>
          </a:p>
          <a:p>
            <a:pPr marL="203200" indent="-203200">
              <a:lnSpc>
                <a:spcPct val="100000"/>
              </a:lnSpc>
              <a:spcBef>
                <a:spcPts val="960"/>
              </a:spcBef>
              <a:buAutoNum type="arabicPeriod" startAt="14"/>
              <a:tabLst>
                <a:tab pos="203200" algn="l"/>
              </a:tabLst>
            </a:pPr>
            <a:r>
              <a:rPr dirty="0" u="sng" sz="1200" spc="-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A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large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language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model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for</a:t>
            </a:r>
            <a:r>
              <a:rPr dirty="0" u="sng" sz="12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electronic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health</a:t>
            </a:r>
            <a:r>
              <a:rPr dirty="0" u="sng" sz="12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records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-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n</a:t>
            </a:r>
            <a:r>
              <a:rPr dirty="0" sz="1200" b="1">
                <a:latin typeface="Times New Roman"/>
                <a:cs typeface="Times New Roman"/>
                <a:hlinkClick r:id="rId5"/>
              </a:rPr>
              <a:t>pj</a:t>
            </a:r>
            <a:r>
              <a:rPr dirty="0" u="sng" sz="12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Digital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5"/>
              </a:rPr>
              <a:t>Medicine</a:t>
            </a:r>
            <a:endParaRPr sz="1200">
              <a:latin typeface="Times New Roman"/>
              <a:cs typeface="Times New Roman"/>
            </a:endParaRPr>
          </a:p>
          <a:p>
            <a:pPr marL="203200" indent="-203200">
              <a:lnSpc>
                <a:spcPct val="100000"/>
              </a:lnSpc>
              <a:spcBef>
                <a:spcPts val="960"/>
              </a:spcBef>
              <a:buAutoNum type="arabicPeriod" startAt="14"/>
              <a:tabLst>
                <a:tab pos="203200" algn="l"/>
              </a:tabLst>
            </a:pPr>
            <a:r>
              <a:rPr dirty="0" u="sng" sz="1200" spc="-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Impact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of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Artificial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Intell</a:t>
            </a:r>
            <a:r>
              <a:rPr dirty="0" sz="1200" b="1">
                <a:latin typeface="Times New Roman"/>
                <a:cs typeface="Times New Roman"/>
                <a:hlinkClick r:id="rId6"/>
              </a:rPr>
              <a:t>ig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ence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sz="1200" b="1">
                <a:latin typeface="Times New Roman"/>
                <a:cs typeface="Times New Roman"/>
                <a:hlinkClick r:id="rId6"/>
              </a:rPr>
              <a:t>(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AI</a:t>
            </a:r>
            <a:r>
              <a:rPr dirty="0" sz="1200" b="1">
                <a:latin typeface="Times New Roman"/>
                <a:cs typeface="Times New Roman"/>
                <a:hlinkClick r:id="rId6"/>
              </a:rPr>
              <a:t>)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Technolo</a:t>
            </a:r>
            <a:r>
              <a:rPr dirty="0" sz="1200" spc="-20" b="1">
                <a:latin typeface="Times New Roman"/>
                <a:cs typeface="Times New Roman"/>
                <a:hlinkClick r:id="rId6"/>
              </a:rPr>
              <a:t>gy</a:t>
            </a:r>
            <a:r>
              <a:rPr dirty="0" u="sng" sz="1200" spc="1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in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Healthcare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Sector: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A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Critical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Evaluation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of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Both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Sides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of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the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6"/>
              </a:rPr>
              <a:t> Coin</a:t>
            </a:r>
            <a:endParaRPr sz="1200">
              <a:latin typeface="Times New Roman"/>
              <a:cs typeface="Times New Roman"/>
            </a:endParaRPr>
          </a:p>
          <a:p>
            <a:pPr marL="203200" indent="-203200">
              <a:lnSpc>
                <a:spcPct val="100000"/>
              </a:lnSpc>
              <a:spcBef>
                <a:spcPts val="960"/>
              </a:spcBef>
              <a:buAutoNum type="arabicPeriod" startAt="14"/>
              <a:tabLst>
                <a:tab pos="203200" algn="l"/>
              </a:tabLst>
            </a:pP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7"/>
              </a:rPr>
              <a:t>Jamanetwork</a:t>
            </a:r>
            <a:endParaRPr sz="1200">
              <a:latin typeface="Times New Roman"/>
              <a:cs typeface="Times New Roman"/>
            </a:endParaRPr>
          </a:p>
          <a:p>
            <a:pPr marL="12700" marR="420370" indent="-12700">
              <a:lnSpc>
                <a:spcPct val="125000"/>
              </a:lnSpc>
              <a:spcBef>
                <a:spcPts val="600"/>
              </a:spcBef>
              <a:buAutoNum type="arabicPeriod" startAt="14"/>
              <a:tabLst>
                <a:tab pos="203200" algn="l"/>
              </a:tabLst>
            </a:pPr>
            <a:r>
              <a:rPr dirty="0" u="sng" sz="1200" spc="-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200" spc="-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Assessing</a:t>
            </a:r>
            <a:r>
              <a:rPr dirty="0" sz="1200" spc="-200" b="1"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spc="-1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ChatGPT</a:t>
            </a:r>
            <a:r>
              <a:rPr dirty="0" u="sng" sz="12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4.0's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test</a:t>
            </a:r>
            <a:r>
              <a:rPr dirty="0" sz="1200" spc="-15" b="1">
                <a:latin typeface="Times New Roman"/>
                <a:cs typeface="Times New Roman"/>
                <a:hlinkClick r:id="rId8"/>
              </a:rPr>
              <a:t> </a:t>
            </a:r>
            <a:r>
              <a:rPr dirty="0" sz="1200" b="1">
                <a:latin typeface="Times New Roman"/>
                <a:cs typeface="Times New Roman"/>
                <a:hlinkClick r:id="rId8"/>
              </a:rPr>
              <a:t>p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erformance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and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clinical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diagnostic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accurac</a:t>
            </a:r>
            <a:r>
              <a:rPr dirty="0" sz="1200" spc="-10" b="1">
                <a:latin typeface="Times New Roman"/>
                <a:cs typeface="Times New Roman"/>
                <a:hlinkClick r:id="rId8"/>
              </a:rPr>
              <a:t>y</a:t>
            </a:r>
            <a:r>
              <a:rPr dirty="0" u="sng" sz="1200" spc="15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on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USMLE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STEP</a:t>
            </a:r>
            <a:r>
              <a:rPr dirty="0" u="sng" sz="1200" spc="-7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2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CK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and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clinical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cas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e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reports</a:t>
            </a:r>
            <a:r>
              <a:rPr dirty="0" u="sng" sz="12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-</a:t>
            </a:r>
            <a:r>
              <a:rPr dirty="0" u="sng" sz="12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Scientific</a:t>
            </a:r>
            <a:r>
              <a:rPr dirty="0" u="sng" sz="12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8"/>
              </a:rPr>
              <a:t>Reports</a:t>
            </a:r>
            <a:endParaRPr sz="1200">
              <a:latin typeface="Times New Roman"/>
              <a:cs typeface="Times New Roman"/>
            </a:endParaRPr>
          </a:p>
          <a:p>
            <a:pPr marL="12700" marR="5080" indent="-12700">
              <a:lnSpc>
                <a:spcPct val="125000"/>
              </a:lnSpc>
              <a:spcBef>
                <a:spcPts val="600"/>
              </a:spcBef>
              <a:buAutoNum type="arabicPeriod" startAt="14"/>
              <a:tabLst>
                <a:tab pos="203200" algn="l"/>
              </a:tabLst>
            </a:pP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2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Natural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Language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Processing</a:t>
            </a:r>
            <a:r>
              <a:rPr dirty="0" sz="1200" spc="-200" b="1"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spc="-1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in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Electronic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Health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Records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in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relation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to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healthcare</a:t>
            </a:r>
            <a:r>
              <a:rPr dirty="0" u="sng" sz="12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decision-making: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A</a:t>
            </a:r>
            <a:r>
              <a:rPr dirty="0" u="sng" sz="1200" spc="-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systematic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review</a:t>
            </a:r>
            <a:r>
              <a:rPr dirty="0" u="sng" sz="12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2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-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9"/>
              </a:rPr>
              <a:t>PubMed</a:t>
            </a:r>
            <a:endParaRPr sz="1200">
              <a:latin typeface="Times New Roman"/>
              <a:cs typeface="Times New Roman"/>
            </a:endParaRPr>
          </a:p>
          <a:p>
            <a:pPr marL="203200" indent="-203200">
              <a:lnSpc>
                <a:spcPct val="100000"/>
              </a:lnSpc>
              <a:spcBef>
                <a:spcPts val="960"/>
              </a:spcBef>
              <a:buAutoNum type="arabicPeriod" startAt="14"/>
              <a:tabLst>
                <a:tab pos="203200" algn="l"/>
              </a:tabLst>
            </a:pPr>
            <a:r>
              <a:rPr dirty="0" u="sng" sz="12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Artificial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intell</a:t>
            </a:r>
            <a:r>
              <a:rPr dirty="0" sz="1200" b="1">
                <a:latin typeface="Times New Roman"/>
                <a:cs typeface="Times New Roman"/>
                <a:hlinkClick r:id="rId10"/>
              </a:rPr>
              <a:t>ig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ence</a:t>
            </a:r>
            <a:r>
              <a:rPr dirty="0" u="sng" sz="12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in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healthcare: transforming</a:t>
            </a:r>
            <a:r>
              <a:rPr dirty="0" sz="1200" spc="-200" b="1"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spc="-1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the</a:t>
            </a:r>
            <a:r>
              <a:rPr dirty="0" sz="1200" spc="-5" b="1">
                <a:latin typeface="Times New Roman"/>
                <a:cs typeface="Times New Roman"/>
                <a:hlinkClick r:id="rId10"/>
              </a:rPr>
              <a:t> </a:t>
            </a:r>
            <a:r>
              <a:rPr dirty="0" sz="1200" b="1">
                <a:latin typeface="Times New Roman"/>
                <a:cs typeface="Times New Roman"/>
                <a:hlinkClick r:id="rId10"/>
              </a:rPr>
              <a:t>p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ractice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</a:t>
            </a:r>
            <a:r>
              <a:rPr dirty="0" u="sng" sz="12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of</a:t>
            </a:r>
            <a:r>
              <a:rPr dirty="0" u="sng" sz="12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10"/>
              </a:rPr>
              <a:t> medicine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30"/>
              </a:lnSpc>
            </a:pPr>
            <a:r>
              <a:rPr dirty="0" spc="-60"/>
              <a:t>Large</a:t>
            </a:r>
            <a:r>
              <a:rPr dirty="0" spc="40"/>
              <a:t> </a:t>
            </a:r>
            <a:r>
              <a:rPr dirty="0" spc="-65"/>
              <a:t>Language</a:t>
            </a:r>
            <a:r>
              <a:rPr dirty="0" spc="45"/>
              <a:t> </a:t>
            </a:r>
            <a:r>
              <a:rPr dirty="0" spc="-75"/>
              <a:t>Models</a:t>
            </a:r>
            <a:r>
              <a:rPr dirty="0" spc="-2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70"/>
              <a:t>Artificial</a:t>
            </a:r>
            <a:r>
              <a:rPr dirty="0" spc="-45"/>
              <a:t> </a:t>
            </a:r>
            <a:r>
              <a:rPr dirty="0" spc="-70"/>
              <a:t>Intelligence</a:t>
            </a:r>
            <a:r>
              <a:rPr dirty="0" spc="45"/>
              <a:t> </a:t>
            </a:r>
            <a:r>
              <a:rPr dirty="0" spc="-60"/>
              <a:t>in</a:t>
            </a:r>
            <a:r>
              <a:rPr dirty="0" spc="-50"/>
              <a:t> </a:t>
            </a:r>
            <a:r>
              <a:rPr dirty="0" spc="-35"/>
              <a:t>Healthcare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2025-11-02T12:11:30Z</dcterms:created>
  <dcterms:modified xsi:type="dcterms:W3CDTF">2025-11-02T12:11:30Z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2025-11-02T00:00:00Z</vt:filetime>
  </property>
  <property fmtid="{D5CDD505-2E9C-101B-9397-08002B2CF9AE}" pid="3" name="Creator">
    <vt:lpwstr>Mozilla/5.0 (X11; Linux x86_64) AppleWebKit/537.36 (KHTML, like Gecko) HeadlessChrome/137.0.0.0 Safari/537.36</vt:lpwstr>
  </property>
  <property fmtid="{D5CDD505-2E9C-101B-9397-08002B2CF9AE}" pid="4" name="LastSaved">
    <vt:filetime>2025-11-02T00:00:00Z</vt:filetime>
  </property>
  <property fmtid="{D5CDD505-2E9C-101B-9397-08002B2CF9AE}" pid="5" name="Producer">
    <vt:lpwstr>3.0.30 (5.1.14) </vt:lpwstr>
  </property>
</Properties>
</file>